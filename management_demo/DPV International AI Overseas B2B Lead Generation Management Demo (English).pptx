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c5308584764066" /><Relationship Type="http://schemas.openxmlformats.org/officeDocument/2006/relationships/extended-properties" Target="/docProps/app.xml" Id="R15de08a32ccc45e4" /><Relationship Type="http://schemas.openxmlformats.org/officeDocument/2006/relationships/officeDocument" Target="/ppt/presentation.xml" Id="R20a45254ed8d45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08c201ae4f4994"/>
  </p:sldMasterIdLst>
  <p:notesMasterIdLst>
    <p:notesMasterId xmlns:r="http://schemas.openxmlformats.org/officeDocument/2006/relationships" r:id="R581340e98aed494a"/>
  </p:notesMasterIdLst>
  <p:sldIdLst>
    <p:sldId xmlns:r="http://schemas.openxmlformats.org/officeDocument/2006/relationships" id="256" r:id="R62d985daeb244242"/>
    <p:sldId xmlns:r="http://schemas.openxmlformats.org/officeDocument/2006/relationships" id="257" r:id="Rc7cbcf4f69624027"/>
    <p:sldId xmlns:r="http://schemas.openxmlformats.org/officeDocument/2006/relationships" id="258" r:id="R0008173e5b004231"/>
    <p:sldId xmlns:r="http://schemas.openxmlformats.org/officeDocument/2006/relationships" id="259" r:id="R17444bd89f064861"/>
    <p:sldId xmlns:r="http://schemas.openxmlformats.org/officeDocument/2006/relationships" id="260" r:id="R8a4b533f928d45ee"/>
    <p:sldId xmlns:r="http://schemas.openxmlformats.org/officeDocument/2006/relationships" id="261" r:id="R4f22c83e281a46ab"/>
    <p:sldId xmlns:r="http://schemas.openxmlformats.org/officeDocument/2006/relationships" id="262" r:id="Rbee5d8829cf84b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90b0a7b9264f99" /><Relationship Type="http://schemas.openxmlformats.org/officeDocument/2006/relationships/slideMaster" Target="/ppt/slideMasters/slideMaster1.xml" Id="R6308c201ae4f4994" /><Relationship Type="http://schemas.openxmlformats.org/officeDocument/2006/relationships/notesMaster" Target="/ppt/notesMasters/notesMaster1.xml" Id="R581340e98aed494a" /><Relationship Type="http://schemas.openxmlformats.org/officeDocument/2006/relationships/presProps" Target="/ppt/presProps.xml" Id="Rd029432b7805479b" /><Relationship Type="http://schemas.openxmlformats.org/officeDocument/2006/relationships/tableStyles" Target="/ppt/tableStyles.xml" Id="R5b46743e570e4503" /><Relationship Type="http://schemas.openxmlformats.org/officeDocument/2006/relationships/slide" Target="/ppt/slides/slide1.xml" Id="R62d985daeb244242" /><Relationship Type="http://schemas.openxmlformats.org/officeDocument/2006/relationships/slide" Target="/ppt/slides/slide2.xml" Id="Rc7cbcf4f69624027" /><Relationship Type="http://schemas.openxmlformats.org/officeDocument/2006/relationships/slide" Target="/ppt/slides/slide3.xml" Id="R0008173e5b004231" /><Relationship Type="http://schemas.openxmlformats.org/officeDocument/2006/relationships/slide" Target="/ppt/slides/slide4.xml" Id="R17444bd89f064861" /><Relationship Type="http://schemas.openxmlformats.org/officeDocument/2006/relationships/slide" Target="/ppt/slides/slide5.xml" Id="R8a4b533f928d45ee" /><Relationship Type="http://schemas.openxmlformats.org/officeDocument/2006/relationships/slide" Target="/ppt/slides/slide6.xml" Id="R4f22c83e281a46ab" /><Relationship Type="http://schemas.openxmlformats.org/officeDocument/2006/relationships/slide" Target="/ppt/slides/slide7.xml" Id="Rbee5d8829cf84b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c6f625ba6a4c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b81bad19e4b2b" /><Relationship Type="http://schemas.openxmlformats.org/officeDocument/2006/relationships/notesMaster" Target="/ppt/notesMasters/notesMaster1.xml" Id="R9ea3c1720d9b46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323a97a66e4c88" /><Relationship Type="http://schemas.openxmlformats.org/officeDocument/2006/relationships/notesMaster" Target="/ppt/notesMasters/notesMaster1.xml" Id="R5bbeb5e24e1242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24743cc9c84b60" /><Relationship Type="http://schemas.openxmlformats.org/officeDocument/2006/relationships/notesMaster" Target="/ppt/notesMasters/notesMaster1.xml" Id="R54e034c89f1c42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223014f7954db8" /><Relationship Type="http://schemas.openxmlformats.org/officeDocument/2006/relationships/notesMaster" Target="/ppt/notesMasters/notesMaster1.xml" Id="Rc3ce802acdb048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3ae480f19e4f05" /><Relationship Type="http://schemas.openxmlformats.org/officeDocument/2006/relationships/notesMaster" Target="/ppt/notesMasters/notesMaster1.xml" Id="R186bce08336541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a08c94eab2474f" /><Relationship Type="http://schemas.openxmlformats.org/officeDocument/2006/relationships/notesMaster" Target="/ppt/notesMasters/notesMaster1.xml" Id="R8ee0128a8d8243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ef85aa98574ccf" /><Relationship Type="http://schemas.openxmlformats.org/officeDocument/2006/relationships/notesMaster" Target="/ppt/notesMasters/notesMaster1.xml" Id="R7396a75b76d74e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DPV International corporate website and product catalogue: https://dpvinternational.com/</a:t>
            </a:r>
          </a:p>
          <a:p xmlns:a="http://schemas.openxmlformats.org/drawingml/2006/main">
            <a:r>
              <a:t>- Illustrative demonstration scenario; not actual campaign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management requirement: current phase targets overseas wholesalers/importers that supply chain stores.</a:t>
            </a:r>
          </a:p>
          <a:p xmlns:a="http://schemas.openxmlformats.org/drawingml/2006/main">
            <a:r>
              <a:t>- DPV International corporate website: https://dpvinternational.com/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n8n documentation: https://docs.n8n.io/</a:t>
            </a:r>
          </a:p>
          <a:p xmlns:a="http://schemas.openxmlformats.org/drawingml/2006/main">
            <a:r>
              <a:t>- Internal project proposal: multi-platform lead acquisition, verification, scoring and sales routing.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demonstration data only; counts are not actual campaign performance.</a:t>
            </a:r>
          </a:p>
          <a:p xmlns:a="http://schemas.openxmlformats.org/drawingml/2006/main">
            <a:r>
              <a:t>- Internal qualification rules from the DPV overseas B2B lead generation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buyer record and score; company name and metrics are demonstration data only.</a:t>
            </a:r>
          </a:p>
          <a:p xmlns:a="http://schemas.openxmlformats.org/drawingml/2006/main">
            <a:r>
              <a:t>- Internal lead-scoring model: importer-wholesaler fit, chain-supply evidence, product fit, market fit, scale and contact validity.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proposal: human approval is mandatory in the initial phase; stop rules apply on reply, opt-out, hard bounce or manual takeover.</a:t>
            </a:r>
          </a:p>
          <a:p xmlns:a="http://schemas.openxmlformats.org/drawingml/2006/main">
            <a:r>
              <a:t>- n8n documentation: https://docs.n8n.io/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eight-week implementation plan and milestones from the DPV overseas B2B lead generation proposal.</a:t>
            </a:r>
          </a:p>
          <a:p xmlns:a="http://schemas.openxmlformats.org/drawingml/2006/main">
            <a:r>
              <a:t>- Illustrative sample volumes for management demonstration and pilot planning.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c64971ce140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9a5f54f64d4200" /><Relationship Type="http://schemas.openxmlformats.org/officeDocument/2006/relationships/slideLayout" Target="/ppt/slideLayouts/slideLayout1.xml" Id="Re726d67cc44348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26d67cc44348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149c4137a4689" /><Relationship Type="http://schemas.openxmlformats.org/officeDocument/2006/relationships/image" Target="/ppt/media/image.jpeg" Id="R3eaaca117ac14fd9" /><Relationship Type="http://schemas.openxmlformats.org/officeDocument/2006/relationships/notesSlide" Target="/ppt/notesSlides/notesSlide1.xml" Id="R5b00877878b141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54de4666d4dcb" /><Relationship Type="http://schemas.openxmlformats.org/officeDocument/2006/relationships/notesSlide" Target="/ppt/notesSlides/notesSlide2.xml" Id="R5cbf9ab560f8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66414ce8a450a" /><Relationship Type="http://schemas.openxmlformats.org/officeDocument/2006/relationships/notesSlide" Target="/ppt/notesSlides/notesSlide3.xml" Id="R4d885961387641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a0498c81c435a" /><Relationship Type="http://schemas.openxmlformats.org/officeDocument/2006/relationships/notesSlide" Target="/ppt/notesSlides/notesSlide4.xml" Id="R14a3bbd93fa74a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f5f65b46f433a" /><Relationship Type="http://schemas.openxmlformats.org/officeDocument/2006/relationships/notesSlide" Target="/ppt/notesSlides/notesSlide5.xml" Id="Rcbd4aec840c342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a625c26cf4695" /><Relationship Type="http://schemas.openxmlformats.org/officeDocument/2006/relationships/notesSlide" Target="/ppt/notesSlides/notesSlide6.xml" Id="R5ea75b0ad11d4b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8cf7bfd19456b" /><Relationship Type="http://schemas.openxmlformats.org/officeDocument/2006/relationships/notesSlide" Target="/ppt/notesSlides/notesSlide7.xml" Id="R3e7e8b7908d547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69E86-6B62-4ADC-9743-449EB9AC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aca117ac14fd9"/>
          <a:stretch xmlns:a="http://schemas.openxmlformats.org/drawingml/2006/main"/>
        </p:blipFill>
        <p:spPr>
          <a:xfrm xmlns:a="http://schemas.openxmlformats.org/drawingml/2006/main">
            <a:off x="781050" y="6477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3D3D7-F951-49FD-85CB-8C18D863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763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DPV INTERNATIONAL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8AFF087F-F3BB-4DC5-80B9-4DEE0695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AI-Powered Overseas</a:t>
            </a:r>
          </a:p>
          <a:p xmlns:a="http://schemas.openxmlformats.org/drawingml/2006/main">
            <a:pPr algn="l">
              <a:defRPr sz="46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B2B Lead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02860-A1D2-4A0D-82AB-183CC725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Management demo: how DPV identifies importer-wholesalers that supply chain stores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B1A1E-DFFB-4135-B8E0-7077985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AFF83-2798-4C78-AEA8-DA6ACB16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ILLUSTRATIVE UAE 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CC2EA-4F6C-4D71-BAE8-77D94D3A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B2B scope only  •  Human-approved outreach  •  Eight-week initial delivery</a:t>
            </a:r>
          </a:p>
        </p:txBody>
      </p:sp>
    </p:spTree>
    <p:extLst>
      <p:ext uri="{BB962C8B-B14F-4D97-AF65-F5344CB8AC3E}">
        <p14:creationId xmlns:p14="http://schemas.microsoft.com/office/powerpoint/2010/main" val="1787440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62820-25DF-440F-A9E3-D9B1B0E2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MANAGEMENT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E755C-8B1F-40DF-82B9-65797A72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6C4B5-6161-4AB4-871B-0409FCBF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36522-DD9D-44FC-A13D-B621EAB7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The target is a B2B distributor—not the end consumer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80716-B26E-4E2F-8C06-01F63999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9F556-4454-4FDB-A678-F7588EAE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76525"/>
            <a:ext cx="876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F8BF7-6F24-4BC4-AF89-166D716E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76525"/>
            <a:ext cx="8763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533BE-5ACC-4D03-ABA2-0EE2D952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647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245C8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DPV EXPORT</a:t>
            </a:r>
          </a:p>
          <a:p xmlns:a="http://schemas.openxmlformats.org/drawingml/2006/main">
            <a:pPr algn="ctr">
              <a:defRPr sz="20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SUPPLY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E4F52-2113-4784-A84C-BFE0872A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5052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13335">
            <a:solidFill>
              <a:srgbClr val="D18A1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IMPORTER / WHOLESALER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10C17-D8DD-4A2A-A147-5760B3EA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7241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3335">
            <a:solidFill>
              <a:srgbClr val="278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CHAIN STORES &amp;</a:t>
            </a:r>
          </a:p>
          <a:p xmlns:a="http://schemas.openxmlformats.org/drawingml/2006/main">
            <a:pPr algn="ctr">
              <a:defRPr sz="19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RETAIL NETWORKS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1407D-182E-45B9-A811-12BA194B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457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Exports products, catalogues,</a:t>
            </a:r>
          </a:p>
          <a:p xmlns:a="http://schemas.openxmlformats.org/drawingml/2006/main">
            <a:pPr algn="ctr">
              <a:defRPr sz="14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MOQ and trade terms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79FEA-3508-4FE2-969A-D185BF33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624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Must import, hold stock, distribute</a:t>
            </a:r>
          </a:p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and supply organized retail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429F7-5048-48DA-9FF6-48B1E20F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57625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31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Provides recurring purchase demand</a:t>
            </a:r>
          </a:p>
          <a:p xmlns:a="http://schemas.openxmlformats.org/drawingml/2006/main">
            <a:pPr algn="ctr">
              <a:defRPr sz="14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and downstream retail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980E0-BD7F-4E2F-B891-6172C6CF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629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CURRENT PHASE: B2B ONLY  |  B2C CUSTOMER ACQUISITION IS OUTSIDE SCOPE</a:t>
            </a:r>
          </a:p>
        </p:txBody>
      </p:sp>
    </p:spTree>
    <p:extLst>
      <p:ext uri="{BB962C8B-B14F-4D97-AF65-F5344CB8AC3E}">
        <p14:creationId xmlns:p14="http://schemas.microsoft.com/office/powerpoint/2010/main" val="569182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1D7DD8-4736-4691-9543-8433B579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MANAGEMENT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1C6A5-AFA1-4CB1-8443-52293CD9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FCD9B-6DC1-41C4-9646-65AC1C98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51AE3-20C1-4A32-8AF7-FFE0A8F3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Multiple sources become one qualified buyer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4ED7A-160A-4AA9-AAC9-90AD4260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8C854-322B-499B-939C-61C28825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52800" y="2066925"/>
            <a:ext cx="1295400" cy="1123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3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A46D0-857B-43AF-A422-6E1AF84D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352800" y="2819400"/>
            <a:ext cx="129540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3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E548B-CEDE-4BD6-9A9A-A470350E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52800" y="3190875"/>
            <a:ext cx="12954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3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437F0-B180-4248-81FE-B7A76E2D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52800" y="3190875"/>
            <a:ext cx="129540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3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953AB-54E6-49EF-BBAA-B3D889ED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52800" y="3190875"/>
            <a:ext cx="1295400" cy="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793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A3817-B206-4083-997D-2C15E184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28950"/>
            <a:ext cx="819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D9B61-4BD3-4A51-B8AD-2C302A09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8DC3A-A6FA-4C05-9E3A-1A32108F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609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245C8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Google &amp; Maps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0F130-0BCD-4026-AF04-97A57A85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609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45C8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LinkedIn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47B35-0E84-4EEA-9068-F9137FE8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609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245C8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Trade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0F6B7-9651-4FD9-A671-400E0B5E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2609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45C8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B2B marketplaces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9F87D-8825-42C2-BD70-A0F3564E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609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245C8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Exhibitor &amp; supplier lists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6B7BF-D76A-4597-847F-D870161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4574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13335">
            <a:solidFill>
              <a:srgbClr val="D18A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UNIFIED</a:t>
            </a:r>
          </a:p>
          <a:p xmlns:a="http://schemas.openxmlformats.org/drawingml/2006/main">
            <a:pPr algn="ctr">
              <a:defRPr sz="210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LEAD 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1FCB4-D327-4CE3-9571-5BCB807E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81250"/>
            <a:ext cx="1600200" cy="16192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AI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364F1-F513-4C3C-A822-982DC14C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81250"/>
            <a:ext cx="1333500" cy="1619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3335">
            <a:solidFill>
              <a:srgbClr val="278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84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845C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 algn="ctr">
              <a:defRPr sz="1500" b="1">
                <a:solidFill>
                  <a:srgbClr val="2784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845C"/>
                </a:solidFill>
                <a:latin typeface="Aptos"/>
                <a:ea typeface="Aptos"/>
                <a:cs typeface="Aptos"/>
              </a:rPr>
              <a:t>LEAD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AD897-0F2F-4017-BCC5-1E76931A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Clean • Deduplicate • Verify 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004F2-1802-4708-9F1D-EDD57B69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1790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Importer fit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Chain-supply evidence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Product match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Decision-maker 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11F59-C9A1-4E2A-A8C5-E12C65E0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8625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Score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Evidence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Recommended 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FF0F6B-B9E4-4DED-9872-F518624A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n8n schedules the workflow; data services and public business sources supply the records; AI interprets and scores them.</a:t>
            </a:r>
          </a:p>
        </p:txBody>
      </p:sp>
    </p:spTree>
    <p:extLst>
      <p:ext uri="{BB962C8B-B14F-4D97-AF65-F5344CB8AC3E}">
        <p14:creationId xmlns:p14="http://schemas.microsoft.com/office/powerpoint/2010/main" val="15958792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DD92D7-7141-4A08-AC26-AEECFAD2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MANAGEMENT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F0EF4-6A6E-4674-8EDD-C8C9B687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D8D0B-C12F-496F-84F0-2695262D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E6498-5822-4E02-AD12-AE0D9673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In the demo, 100 candidates narrow to 12 sales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A2A7C-5558-4225-A07A-0D4A4E25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15E42-867B-4CF9-91E6-9998CA07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95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Illustrative UAE apparel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6D35E-A8B7-4153-885B-9B0DD93A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Candidates discovered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47627-9B83-464E-8A4E-5B2BC911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581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07084-EF4E-46B6-BFFA-27D31872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581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44D"/>
          </a:solidFill>
          <a:ln xmlns:a="http://schemas.openxmlformats.org/drawingml/2006/main" w="0">
            <a:solidFill>
              <a:srgbClr val="1834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670F4-70D4-4615-8FC9-5BCC7587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621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2E2F6-9F1B-4863-8146-B717CC3B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Unique companies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06BA1-65BD-4B7D-8BB9-97887A73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581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45ADB-8AF5-48CA-A48D-277F6916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511302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C82"/>
          </a:solidFill>
          <a:ln xmlns:a="http://schemas.openxmlformats.org/drawingml/2006/main" w="0">
            <a:solidFill>
              <a:srgbClr val="245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D7D64-22EC-4CE1-BD3A-85A9E696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812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45C8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5C82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4F5CC-18B6-4C7E-9732-C8E70E19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B2B businesses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DD687-8693-4B21-859E-30DDB7FC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581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E1EDB-2A65-48C2-B775-96CAEBD9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40671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789E"/>
          </a:solidFill>
          <a:ln xmlns:a="http://schemas.openxmlformats.org/drawingml/2006/main" w="0">
            <a:solidFill>
              <a:srgbClr val="3E78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FA922-9670-4920-8962-71BCE4EB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00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3E789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E789E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9B069-AAAF-4D55-8082-1AA167F1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Verified importer-wholesalers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1CF4C-6231-4C1C-AC60-FF977183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81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98DBB-504F-4FE2-B2F4-DB7BAB85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3428048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9A9"/>
          </a:solidFill>
          <a:ln xmlns:a="http://schemas.openxmlformats.org/drawingml/2006/main" w="0">
            <a:solidFill>
              <a:srgbClr val="5489A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C6218-DA29-4BF2-97AC-6410C1E7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195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489A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489A9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C3211-D2A8-4AF9-86E4-6AA0D099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Chain-store supply 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8A163-3715-47E9-A8A0-B9E262C7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581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A142C-7CB3-4100-AB33-2B230236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2905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8A13"/>
          </a:solidFill>
          <a:ln xmlns:a="http://schemas.openxmlformats.org/drawingml/2006/main" w="0">
            <a:solidFill>
              <a:srgbClr val="D18A1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0D31B1-F335-494A-A9C3-7E423355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3865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18A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18A13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542438-4D2A-4EF1-8D0D-EFA5BEC1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Tier A sales priorities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D14B80-CF07-4698-8479-C373E49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581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6668">
            <a:solidFill>
              <a:srgbClr val="D7DE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F0440-D720-4936-9764-B6837235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69723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C5E74-9BE4-49FB-8F0A-406849D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0577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434B48-D053-4394-96CB-B94C6D3A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66950"/>
            <a:ext cx="1466850" cy="16002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QUALITY</a:t>
            </a:r>
          </a:p>
          <a:p xmlns:a="http://schemas.openxmlformats.org/drawingml/2006/main">
            <a:pPr algn="ctr">
              <a:defRPr sz="180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OVER</a:t>
            </a:r>
          </a:p>
          <a:p xmlns:a="http://schemas.openxmlformats.org/drawingml/2006/main">
            <a:pPr algn="ctr">
              <a:defRPr sz="180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VOLUME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D2D90-330F-4DB9-B407-E501333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3385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Each removal is traceable: duplicate, non-B2B, weak import evidence, no chain-supply fit, or low priority.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B85831-0F78-400E-89A3-87563D5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793A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3A0"/>
                </a:solidFill>
                <a:latin typeface="Aptos"/>
                <a:ea typeface="Aptos"/>
                <a:cs typeface="Aptos"/>
              </a:rPr>
              <a:t>Illustrative demonstration data—not actual campaign results</a:t>
            </a:r>
          </a:p>
        </p:txBody>
      </p:sp>
    </p:spTree>
    <p:extLst>
      <p:ext uri="{BB962C8B-B14F-4D97-AF65-F5344CB8AC3E}">
        <p14:creationId xmlns:p14="http://schemas.microsoft.com/office/powerpoint/2010/main" val="8939419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A12681-A644-4C3A-BA1B-2CA33CBD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MANAGEMENT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F1336-1AF8-46E2-AC3C-CFB8FCFC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D1326-ADA2-45D1-A360-B421C465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2339C-E96C-4A73-83B2-5089D474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A qualified lead is evidence-backed and ready for sales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D2C8F-C3F7-4CE4-A31C-93DCBC23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C12E7-9E2B-4F60-8AB7-DB441958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ILLUSTRATIVE BUYER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8421A-3B29-4D57-925F-54AD775D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Gulf Retail Distribution 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8EC6D-AA0F-45D0-BED8-3A0505FD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UAE  |  Dubai  |  Importer / Wholesaler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2D34E-CB2E-45A2-BEE6-D31EE6E3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DF097-AD77-4070-89F2-68C49C98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93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793A0"/>
                </a:solidFill>
                <a:latin typeface="Aptos"/>
                <a:ea typeface="Aptos"/>
                <a:cs typeface="Aptos"/>
              </a:rPr>
              <a:t>CHAIN-SUPPLY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71E35-E0E0-4EF3-A3A3-99FBCA81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194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Supplies 80+ supermarkets and department stores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EF687-4C6B-4913-8781-03FC85D6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93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793A0"/>
                </a:solidFill>
                <a:latin typeface="Aptos"/>
                <a:ea typeface="Aptos"/>
                <a:cs typeface="Aptos"/>
              </a:rPr>
              <a:t>DECISION-MAKER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EBEF0-BD41-4F01-A1A1-3F1C7FBA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57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Category 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39F76-CBFB-4A07-A5D2-370624F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93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793A0"/>
                </a:solidFill>
                <a:latin typeface="Aptos"/>
                <a:ea typeface="Aptos"/>
                <a:cs typeface="Aptos"/>
              </a:rPr>
              <a:t>CONTACT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B8314-9155-4E1A-BECD-F58B1E0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958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Verified business 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D42A6-D530-4AC2-8B0B-26C9F0CD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93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793A0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50ABF-4FC7-4CA8-8A59-293757B4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339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Corporate website + trade data + LinkedIn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023FE-02ED-4FD1-B827-FB8DBDDC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165735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28575">
            <a:solidFill>
              <a:srgbClr val="2784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5C861-5243-4EB4-A21D-908F5F96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7845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7845C"/>
                </a:solidFill>
                <a:latin typeface="Aptos"/>
                <a:ea typeface="Aptos"/>
                <a:cs typeface="Aptos"/>
              </a:rPr>
              <a:t>93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CC6A7-B04D-4745-8CF7-45CBDCA1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84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845C"/>
                </a:solidFill>
                <a:latin typeface="Aptos"/>
                <a:ea typeface="Aptos"/>
                <a:cs typeface="Aptos"/>
              </a:rPr>
              <a:t>/100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615F3-38D2-452F-BF22-B68EFD5A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57400"/>
            <a:ext cx="1809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TIER A</a:t>
            </a:r>
          </a:p>
          <a:p xmlns:a="http://schemas.openxmlformats.org/drawingml/2006/main">
            <a:pPr algn="ctr">
              <a:defRPr sz="187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PRIORITIZE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C3270-A75D-49C6-81BE-B5E781DC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Importer / wholesaler fit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0288C-6219-4592-BF1F-87547B02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528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15 / 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E4D85-2C42-492F-A82B-A6C3D275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5750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16A17-22A3-40D5-BB0F-934FE95C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Chain-supply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4DABF-7492-4CFC-AB67-E746BEB7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10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15 / 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6A191-EE13-4B62-850A-6C5E9176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52950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B5843-7116-49BB-B7FC-8C4C6D1C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67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Product fit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F59DC2-55EA-4E5E-9B21-C6B282F5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6672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18 / 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047DEE-949D-433B-8DD5-55C0F362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10150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530D47-A8B3-4D95-836B-02E142FA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Market, contact and scale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980120-7570-41AE-B5EF-31D32E59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24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45 / 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1856E6-E056-4085-A695-F319EC95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67350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497FBA-536F-4FE1-9960-DBB2BEFC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5537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3F9"/>
          </a:solidFill>
          <a:ln xmlns:a="http://schemas.openxmlformats.org/drawingml/2006/main" w="13335">
            <a:solidFill>
              <a:srgbClr val="245C82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PRODUCT MATCH  •  Women's apparel 94%  •  Bags 88%</a:t>
            </a:r>
          </a:p>
        </p:txBody>
      </p:sp>
    </p:spTree>
    <p:extLst>
      <p:ext uri="{BB962C8B-B14F-4D97-AF65-F5344CB8AC3E}">
        <p14:creationId xmlns:p14="http://schemas.microsoft.com/office/powerpoint/2010/main" val="801212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034D90-CC27-4E04-8783-5568AC2F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MANAGEMENT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800C6-0114-49C7-BA5B-54FE4623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C9798-B18B-4F67-BDF9-D4BDB634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E1EC9-ECB7-4755-A45B-F3150543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Automation prepares the work; sales retains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C557B-9103-44D0-B415-76BCBFAA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AC931-2CC9-4F09-A2DA-4BEBEE6D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193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F9EBC-A161-4441-BC4E-6566844A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193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649BB-A6DC-4667-8AD9-01CFA621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193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A0D0C-C475-41F6-850E-DBBA6892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193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9DB7A-2737-4A5B-9011-62733856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193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A9A15-205C-445D-A835-5A4B1ADC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19375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793A0"/>
          </a:solidFill>
          <a:ln xmlns:a="http://schemas.openxmlformats.org/drawingml/2006/main" w="0">
            <a:solidFill>
              <a:srgbClr val="8793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9B217-4274-4CAF-96C3-541A140D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44D"/>
          </a:solidFill>
          <a:ln xmlns:a="http://schemas.openxmlformats.org/drawingml/2006/main" w="0">
            <a:solidFill>
              <a:srgbClr val="1834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C7462-B68C-49B7-ABF8-B3CC293B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907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CE508-D621-4682-BE79-130A239A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37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DEE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DISCOVER</a:t>
            </a:r>
          </a:p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Multiple 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081DA-4112-440F-B668-F878C10E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44D"/>
          </a:solidFill>
          <a:ln xmlns:a="http://schemas.openxmlformats.org/drawingml/2006/main" w="0">
            <a:solidFill>
              <a:srgbClr val="1834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8608C-B67A-47DF-927B-83D92147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907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549AA-2CED-46D4-80B2-60DEC1E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76500"/>
            <a:ext cx="137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DEE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VERIFY</a:t>
            </a:r>
          </a:p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Clean and deduplicate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6C5FB-FE9C-44C3-8682-59B025C3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44D"/>
          </a:solidFill>
          <a:ln xmlns:a="http://schemas.openxmlformats.org/drawingml/2006/main" w="0">
            <a:solidFill>
              <a:srgbClr val="1834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237A0-1A4A-49D9-A476-CE4C0E5A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907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5CA9E-6282-43EA-8748-DBE02485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137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DEE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QUALIFY</a:t>
            </a:r>
          </a:p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Importer + chain 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D83F0-BABB-4E1D-A9D4-BEA1E385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44D"/>
          </a:solidFill>
          <a:ln xmlns:a="http://schemas.openxmlformats.org/drawingml/2006/main" w="0">
            <a:solidFill>
              <a:srgbClr val="1834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66467-A306-43BD-BBDA-A11A0C84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907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6907A-49D9-4017-B246-B2F0D789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76500"/>
            <a:ext cx="137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DEE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MATCH</a:t>
            </a:r>
          </a:p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Products and market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6F1CC-96CF-40B8-9401-0B95F2CF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44D"/>
          </a:solidFill>
          <a:ln xmlns:a="http://schemas.openxmlformats.org/drawingml/2006/main" w="0">
            <a:solidFill>
              <a:srgbClr val="1834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723E3-F749-466E-87F3-075AE60A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907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44D769-B5F2-4306-B06C-D7E3B944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37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DEE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DRAFT</a:t>
            </a:r>
          </a:p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Email and LinkedIn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11BAF-4A61-4E10-9DE9-0AA01AF1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366A3-85FE-4F8F-B1F2-D4EC6F53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9907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AED852-4295-4EF6-8A52-0C9AF1B2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76500"/>
            <a:ext cx="137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APPROVE</a:t>
            </a:r>
          </a:p>
          <a:p xmlns:a="http://schemas.openxmlformats.org/drawingml/2006/main">
            <a:pPr algn="ctr">
              <a:defRPr sz="13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E707D7-B795-4365-9BDD-6154D8FC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943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44D"/>
          </a:solidFill>
          <a:ln xmlns:a="http://schemas.openxmlformats.org/drawingml/2006/main" w="0">
            <a:solidFill>
              <a:srgbClr val="1834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2A17D8-D267-4B18-A927-B8E6F13B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990725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F52183-EE8A-4584-B598-5DC1B110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137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7DEE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MONITOR</a:t>
            </a:r>
          </a:p>
          <a:p xmlns:a="http://schemas.openxmlformats.org/drawingml/2006/main">
            <a:pPr algn="ctr">
              <a:defRPr sz="13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Replies and CRM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C9881C-7200-45B7-8B94-D7446A66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673379-46D4-4DCE-9172-CDE7ABC9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23622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STOP AUTOMATION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33CC33-252C-4891-8368-9498F7F6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720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Reply • Opt-out • Hard bounce • Manual takeover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15E9B2-A9EB-4B9E-9057-ED73C1E9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2133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13335">
            <a:solidFill>
              <a:srgbClr val="278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84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845C"/>
                </a:solidFill>
                <a:latin typeface="Aptos"/>
                <a:ea typeface="Aptos"/>
                <a:cs typeface="Aptos"/>
              </a:rPr>
              <a:t>SALES HANDOFF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38A401-7CE8-4EB9-9AF1-368E88E4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720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High intent • Catalogue • Sample • Quotation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6F2485-AAF3-4482-AB23-56B55FA8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57850"/>
            <a:ext cx="1047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13335">
            <a:solidFill>
              <a:srgbClr val="D18A1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system never commits price, payment, contracts or delivery terms without business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6625302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130692-2CC9-4821-A9CA-A646D69D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DPV INTERNATIONAL  |  MANAGEMENT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D7F55-A7A1-47F6-B3E1-D8BF247F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74B89-CC36-4C8D-BF3E-64798261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D7810-6263-42B4-A74B-D502A956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Eight weeks to a controlled live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8508E-1457-4F5F-BB67-D45658B2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0">
            <a:solidFill>
              <a:srgbClr val="C92B2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21A11-FFC7-4D27-AC36-1B88B047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27F"/>
                </a:solidFill>
                <a:latin typeface="Aptos"/>
                <a:ea typeface="Aptos"/>
                <a:cs typeface="Aptos"/>
              </a:rPr>
              <a:t>Start small. Validate quality. Scale only after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A5F58-B0DD-4359-B40A-5DB2651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76575"/>
            <a:ext cx="9696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EFC35-4A26-4903-8947-A1774633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44D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19811-9618-4C84-974D-7839FC31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05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BCAB7-286B-4A7F-AF32-8142321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7C139-F298-4A1E-A5FA-7946CD59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PROTOTYPE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D6AA3-2240-4D93-9FFD-7A43BDC5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50 sample importer-wholesalers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1F353-8BEC-4552-A8EF-4EB5E8AF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44D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158BF-D3FD-42BB-B6AC-AF918DC0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05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84C64-7564-482A-AD42-9CF63402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WEEK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9047A-314C-4029-BFD3-9DA511EB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38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MVP 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52821-9923-47D3-9424-3B0E54E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200–500 verified candidates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5F434-DCFF-403A-8DE7-D0834FD5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B2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F1C06-8371-4094-853C-05343EDE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5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003BE-8765-4494-BB16-C1AD319A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WEEK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CFFA5-FB98-44B4-83BC-6D9C1B55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38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LIVE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40412-27D3-4D8B-B551-07FC443D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576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~100 approved contacts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8D1BC-3194-451A-B617-BCDD4922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38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44D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D6380-844D-434D-8065-94E5CA4B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051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18B44-C285-4457-9381-EFC50641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098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27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6727F"/>
                </a:solidFill>
                <a:latin typeface="Aptos"/>
                <a:ea typeface="Aptos"/>
                <a:cs typeface="Aptos"/>
              </a:rPr>
              <a:t>WEEK 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958632-0577-4068-9D8F-85B7F2F3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4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344D"/>
                </a:solidFill>
                <a:latin typeface="Aptos"/>
                <a:ea typeface="Aptos"/>
                <a:cs typeface="Aptos"/>
              </a:rPr>
              <a:t>ACCEPTANCE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038A1E-3510-413F-8B85-75C0BF69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System, training and handover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8A530-D7EE-4D3E-ABC4-AEA7B241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3276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92B2B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585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 DECISION REQUESTED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4C6599-35DE-4369-8015-32296C62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86375"/>
            <a:ext cx="716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3335">
            <a:solidFill>
              <a:srgbClr val="C92B2B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2B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92B2B"/>
                </a:solidFill>
                <a:latin typeface="Aptos"/>
                <a:ea typeface="Aptos"/>
                <a:cs typeface="Aptos"/>
              </a:rPr>
              <a:t>Approve Week 1 data access and name one sales owner for review and follow-up.</a:t>
            </a:r>
          </a:p>
        </p:txBody>
      </p:sp>
    </p:spTree>
    <p:extLst>
      <p:ext uri="{BB962C8B-B14F-4D97-AF65-F5344CB8AC3E}">
        <p14:creationId xmlns:p14="http://schemas.microsoft.com/office/powerpoint/2010/main" val="1020236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>2026-08-19T11:34:05.3990000Z</dcterms:created>
  <dcterms:modified xsi:type="dcterms:W3CDTF">2026-08-19T11:34:05.3990000Z</dcterms:modified>
</coreProperties>
</file>