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d47c583f94269" /><Relationship Type="http://schemas.openxmlformats.org/officeDocument/2006/relationships/extended-properties" Target="/docProps/app.xml" Id="R9c912a135f3949d1" /><Relationship Type="http://schemas.openxmlformats.org/officeDocument/2006/relationships/officeDocument" Target="/ppt/presentation.xml" Id="Rc77cf7e67f86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a6c322cbba4a0c"/>
  </p:sldMasterIdLst>
  <p:notesMasterIdLst>
    <p:notesMasterId xmlns:r="http://schemas.openxmlformats.org/officeDocument/2006/relationships" r:id="R73b83dbdea634845"/>
  </p:notesMasterIdLst>
  <p:sldIdLst>
    <p:sldId xmlns:r="http://schemas.openxmlformats.org/officeDocument/2006/relationships" id="256" r:id="Ra687a438216c4b87"/>
    <p:sldId xmlns:r="http://schemas.openxmlformats.org/officeDocument/2006/relationships" id="257" r:id="Rb5447d67525c41d0"/>
    <p:sldId xmlns:r="http://schemas.openxmlformats.org/officeDocument/2006/relationships" id="258" r:id="Rd4af4ddb2aee4de3"/>
    <p:sldId xmlns:r="http://schemas.openxmlformats.org/officeDocument/2006/relationships" id="259" r:id="R24265b3760ca42e1"/>
    <p:sldId xmlns:r="http://schemas.openxmlformats.org/officeDocument/2006/relationships" id="260" r:id="R1d27b696159948a8"/>
    <p:sldId xmlns:r="http://schemas.openxmlformats.org/officeDocument/2006/relationships" id="261" r:id="Ra0d16400b14f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6bb761581f4a13" /><Relationship Type="http://schemas.openxmlformats.org/officeDocument/2006/relationships/slideMaster" Target="/ppt/slideMasters/slideMaster1.xml" Id="Raca6c322cbba4a0c" /><Relationship Type="http://schemas.openxmlformats.org/officeDocument/2006/relationships/notesMaster" Target="/ppt/notesMasters/notesMaster1.xml" Id="R73b83dbdea634845" /><Relationship Type="http://schemas.openxmlformats.org/officeDocument/2006/relationships/presProps" Target="/ppt/presProps.xml" Id="Rc477ebc970504052" /><Relationship Type="http://schemas.openxmlformats.org/officeDocument/2006/relationships/tableStyles" Target="/ppt/tableStyles.xml" Id="R10ded3e5579b432d" /><Relationship Type="http://schemas.openxmlformats.org/officeDocument/2006/relationships/slide" Target="/ppt/slides/slide1.xml" Id="Ra687a438216c4b87" /><Relationship Type="http://schemas.openxmlformats.org/officeDocument/2006/relationships/slide" Target="/ppt/slides/slide2.xml" Id="Rb5447d67525c41d0" /><Relationship Type="http://schemas.openxmlformats.org/officeDocument/2006/relationships/slide" Target="/ppt/slides/slide3.xml" Id="Rd4af4ddb2aee4de3" /><Relationship Type="http://schemas.openxmlformats.org/officeDocument/2006/relationships/slide" Target="/ppt/slides/slide4.xml" Id="R24265b3760ca42e1" /><Relationship Type="http://schemas.openxmlformats.org/officeDocument/2006/relationships/slide" Target="/ppt/slides/slide5.xml" Id="R1d27b696159948a8" /><Relationship Type="http://schemas.openxmlformats.org/officeDocument/2006/relationships/slide" Target="/ppt/slides/slide6.xml" Id="Ra0d16400b14f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14ea12fa9c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c6ff981eb4169" /><Relationship Type="http://schemas.openxmlformats.org/officeDocument/2006/relationships/notesMaster" Target="/ppt/notesMasters/notesMaster1.xml" Id="Rd298c58d0c9b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899706c514ef5" /><Relationship Type="http://schemas.openxmlformats.org/officeDocument/2006/relationships/notesMaster" Target="/ppt/notesMasters/notesMaster1.xml" Id="Re0ba324a2ec7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5a7034aadf4a02" /><Relationship Type="http://schemas.openxmlformats.org/officeDocument/2006/relationships/notesMaster" Target="/ppt/notesMasters/notesMaster1.xml" Id="Ra912919b0a3f47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85c259ceb4155" /><Relationship Type="http://schemas.openxmlformats.org/officeDocument/2006/relationships/notesMaster" Target="/ppt/notesMasters/notesMaster1.xml" Id="Ra44596e65aff4b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5e97b4c084c55" /><Relationship Type="http://schemas.openxmlformats.org/officeDocument/2006/relationships/notesMaster" Target="/ppt/notesMasters/notesMaster1.xml" Id="R03d21fd2bc7749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211d972dd040d9" /><Relationship Type="http://schemas.openxmlformats.org/officeDocument/2006/relationships/notesMaster" Target="/ppt/notesMasters/notesMaster1.xml" Id="Rb0d28fc695a844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DPV International corporate website: https://dpvinternational.com/</a:t>
            </a:r>
          </a:p>
          <a:p xmlns:a="http://schemas.openxmlformats.org/drawingml/2006/main">
            <a:r>
              <a:t>- n8n official documentation: https://docs.n8n.io/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management requirement: target overseas importer-wholesalers that supply chain stores.</a:t>
            </a:r>
          </a:p>
          <a:p xmlns:a="http://schemas.openxmlformats.org/drawingml/2006/main">
            <a:r>
              <a:t>- DPV International corporate website: https://dpvinternational.com/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 official documentation: https://docs.n8n.io/</a:t>
            </a:r>
          </a:p>
          <a:p xmlns:a="http://schemas.openxmlformats.org/drawingml/2006/main">
            <a:r>
              <a:t>- n8n connects applications and APIs and manipulates data with workflow nodes.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 official documentation: https://docs.n8n.io/</a:t>
            </a:r>
          </a:p>
          <a:p xmlns:a="http://schemas.openxmlformats.org/drawingml/2006/main">
            <a:r>
              <a:t>- Illustrative workflow using common n8n trigger, HTTP request, item processing, code and database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demonstration counts only; not actual campaign results.</a:t>
            </a:r>
          </a:p>
          <a:p xmlns:a="http://schemas.openxmlformats.org/drawingml/2006/main">
            <a:r>
              <a:t>- n8n official documentation: https://docs.n8n.io/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 official documentation: https://docs.n8n.io/</a:t>
            </a:r>
          </a:p>
          <a:p xmlns:a="http://schemas.openxmlformats.org/drawingml/2006/main">
            <a:r>
              <a:t>- n8n Gmail message operations and approval documentation: https://docs.n8n.io/integrations/builtin/app-nodes/n8n-nodes-base.gmail/message-operations/</a:t>
            </a:r>
          </a:p>
          <a:p xmlns:a="http://schemas.openxmlformats.org/drawingml/2006/main">
            <a:r>
              <a:t>- Internal control requirement: human approval before initial outreach; stop on reply, opt-out or hard bounce.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7f4f72e1849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93eb6f7d849c8" /><Relationship Type="http://schemas.openxmlformats.org/officeDocument/2006/relationships/slideLayout" Target="/ppt/slideLayouts/slideLayout1.xml" Id="Rb07b70f28d4f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7b70f28d4f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f1d6427cc4aa7" /><Relationship Type="http://schemas.openxmlformats.org/officeDocument/2006/relationships/image" Target="/ppt/media/image.jpeg" Id="R74c634b15f2440d5" /><Relationship Type="http://schemas.openxmlformats.org/officeDocument/2006/relationships/notesSlide" Target="/ppt/notesSlides/notesSlide1.xml" Id="R1dfed1bdb40e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5baad936b4f55" /><Relationship Type="http://schemas.openxmlformats.org/officeDocument/2006/relationships/notesSlide" Target="/ppt/notesSlides/notesSlide2.xml" Id="R13134f0610674e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1c810de4a4057" /><Relationship Type="http://schemas.openxmlformats.org/officeDocument/2006/relationships/notesSlide" Target="/ppt/notesSlides/notesSlide3.xml" Id="R4170d6768720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3b1c23b5b4684" /><Relationship Type="http://schemas.openxmlformats.org/officeDocument/2006/relationships/notesSlide" Target="/ppt/notesSlides/notesSlide4.xml" Id="Reee55d0bbd9142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7cbe5537b4f19" /><Relationship Type="http://schemas.openxmlformats.org/officeDocument/2006/relationships/notesSlide" Target="/ppt/notesSlides/notesSlide5.xml" Id="R446cf7f2116d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bcec54eb9442e" /><Relationship Type="http://schemas.openxmlformats.org/officeDocument/2006/relationships/notesSlide" Target="/ppt/notesSlides/notesSlide6.xml" Id="Rea7bbad23a664b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45A1E-532E-430D-9A0F-8FC3E31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634b15f2440d5"/>
          <a:stretch xmlns:a="http://schemas.openxmlformats.org/drawingml/2006/main"/>
        </p:blipFill>
        <p:spPr>
          <a:xfrm xmlns:a="http://schemas.openxmlformats.org/drawingml/2006/main">
            <a:off x="781050" y="6477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61DE9-59CC-41BD-94F7-84AC3D79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763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DPV INTERNATIONAL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3861-D9CF-468A-B0D9-255DA343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n8n-Powered Overseas</a:t>
            </a:r>
          </a:p>
          <a:p xmlns:a="http://schemas.openxmlformats.org/drawingml/2006/main">
            <a:pPr algn="l">
              <a:defRPr sz="45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B2B Lead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515B8-CA29-41A7-BBFE-70CCE5DC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How the workflow finds, filters, enriches and contacts overseas importer-wholesalers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09742-7F67-4CAC-8696-02D94B29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3EB81-78E4-4E15-B9E2-C3B35FA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MANAGEMENT WORKFLOW DEMONSTRATION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6C71A-B191-4218-AE0E-DF46F23A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B2B scope only  •  Human-approved outreach  •  Traceable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760782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70C76-0594-4E41-ABB9-A3F03AF2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n8n WORKFLOW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363A3-1E99-4C52-B903-6C88041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04C40-0115-4035-AE2B-93862D9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7421F-3860-4719-91F9-4A9FF344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The target is a B2B distributor—not the end consumer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50CE7-4013-4C3D-8A35-40373AC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DF135-779C-445D-8FFD-73FBF87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EE5F1-FF5C-4F4C-8B81-DB0E56F2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7652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A2561-2597-4CD0-A110-9C010E77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647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DPV EXPORT</a:t>
            </a:r>
          </a:p>
          <a:p xmlns:a="http://schemas.openxmlformats.org/drawingml/2006/main">
            <a:pPr algn="ctr">
              <a:defRPr sz="20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SUPPLY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E7C4A-825E-491B-BE75-E66212BB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5052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IMPORTER / WHOLESALER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96AAA-261D-4C1A-8706-0E0FBE14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724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CHAIN STORES &amp;</a:t>
            </a:r>
          </a:p>
          <a:p xmlns:a="http://schemas.openxmlformats.org/drawingml/2006/main">
            <a:pPr algn="ctr">
              <a:defRPr sz="19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RETAIL NETWORKS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0E13F-A716-4E7E-8E3C-029DC1F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Exports products, catalogues,</a:t>
            </a:r>
          </a:p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MOQ and trade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76EDA-C330-4431-9323-2D3290D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Must import, hold stock, distribute</a:t>
            </a:r>
          </a:p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and supply organized retail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F3093-DDD9-4B9E-B383-BCD3FC15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31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Provides recurring purchase demand</a:t>
            </a:r>
          </a:p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and downstream retail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01C4B-6BAF-43F7-816C-8F1DA79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629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CURRENT PHASE: B2B ONLY  |  B2C CUSTOMER ACQUISITION IS OUTSIDE SCOPE</a:t>
            </a:r>
          </a:p>
        </p:txBody>
      </p:sp>
    </p:spTree>
    <p:extLst>
      <p:ext uri="{BB962C8B-B14F-4D97-AF65-F5344CB8AC3E}">
        <p14:creationId xmlns:p14="http://schemas.microsoft.com/office/powerpoint/2010/main" val="632715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CA646-CD06-46A0-BB11-AFFB4B29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n8n WORKFLOW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E7956-4E86-4C11-9467-13F6B14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C0DAD-E54C-4EB8-8CD3-8371937C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0FD54-A621-41CA-A2E5-C40114B9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n8n connects the workflow; APIs, rules and AI do specialist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628AF-93C0-4F12-80A3-1FD100F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9CC31-CA3F-4CDB-BCBD-FB722C0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95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6A4D7-2046-4814-8F20-0439BCD9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95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7ED28-D53D-4993-B0C6-76F5AEFF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43163-CB16-43A4-BD0A-433B64BF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32410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8793A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1  TRIGGER &amp;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FBD7F-FA98-48B2-B736-50D87514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2765"/>
            <a:ext cx="2171700" cy="65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Schedule Trigger</a:t>
            </a:r>
          </a:p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Edit Fields: country, product, ICP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AB9D8-BD36-428F-831C-1774475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32410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2  ACQUIRE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C3EB8-1134-4C51-9104-7AADA07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72765"/>
            <a:ext cx="2171700" cy="65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HTTP Request</a:t>
            </a:r>
          </a:p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Search APIs, directories, trade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28B86-C7B9-428A-8917-BE14EA61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2410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3335">
            <a:solidFill>
              <a:srgbClr val="7659A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59A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59A7"/>
                </a:solidFill>
                <a:latin typeface="Aptos"/>
                <a:ea typeface="Aptos"/>
                <a:cs typeface="Aptos"/>
              </a:rPr>
              <a:t>3  PROCESS &amp; 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10833-F09F-4BEE-AF6A-A2CDC4F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2765"/>
            <a:ext cx="2171700" cy="65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Code + LLM</a:t>
            </a:r>
          </a:p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IF, Switch, Merge and scoring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C3BD8-D8C5-490A-9D59-A524FCB7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0"/>
            <a:ext cx="2324100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4  ACT &amp;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544B8-3018-4B26-83C8-F6441246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2765"/>
            <a:ext cx="2171700" cy="651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Postgres + CRM</a:t>
            </a:r>
          </a:p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Approval, email and sales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A08D6-869B-444D-A9D8-5627763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D8238-AAC8-403E-A803-1EC2A8D1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n8n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26E64-B510-4F54-9CF0-AD2BB0EC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910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Schedules runs, moves JSON between nodes, applies routing rules and records execution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A6CF6-4D89-4417-A875-A977E6D2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57850"/>
            <a:ext cx="9563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n8n is the conductor—not the customer-data source and not the language model.</a:t>
            </a:r>
          </a:p>
        </p:txBody>
      </p:sp>
    </p:spTree>
    <p:extLst>
      <p:ext uri="{BB962C8B-B14F-4D97-AF65-F5344CB8AC3E}">
        <p14:creationId xmlns:p14="http://schemas.microsoft.com/office/powerpoint/2010/main" val="896794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10C72B-6262-465A-B39E-6A9465A7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n8n WORKFLOW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6030-477C-4E54-BA61-B91872E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F6F8D-6BD1-4C1D-95EA-7D53A10D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68F33-9236-46A0-91BE-7610A0BA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Customer acquisition: search to stored company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9514E-3888-4CD1-AD0E-5A09C16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39C92-C968-4CE5-BDC8-EFF18A49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5267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5B762-7834-46EA-BBC8-F87C2F3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5267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C3E1E-BB74-4453-9FFF-A406B1B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5267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56D7A-C911-4463-A724-D1FF9767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52675"/>
            <a:ext cx="4191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464AE-0AE9-4447-B529-D4A18BA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00400"/>
            <a:ext cx="266700" cy="533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2A87F-60BD-43A7-B08C-7BD56363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9575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61FA5-C5A1-4C0D-94E5-2D9BB48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9575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59123-591C-406E-AC28-C42FD97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19575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08F6-8973-4F12-A5CC-82D6E7A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19575"/>
            <a:ext cx="41910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AABCF-CBC9-4526-9498-7AB869EB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8793A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Schedule Trigger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B59E5-4B22-44B7-ABF5-4E932C8F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84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Run daily or on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EB73E-7845-4A85-88C3-572B85D9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669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8793A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Edit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5D026-C4AF-4BED-A02B-23DAFB44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184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Country • product • buyer ICP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EA658-7AAC-4E52-9132-DFA6D6F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669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3335">
            <a:solidFill>
              <a:srgbClr val="7659A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LLM Keywords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B878B-61C4-43F8-A8A7-CF985828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84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Generate multilingual search terms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DAED3-6F1F-4016-8BB3-3C3221BE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669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HTTP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9E4D8-5F57-46AF-B4A9-B74F7413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84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Search API / directory 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8EEDB-F9DF-4A25-BE00-DB25325E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669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Split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006FC-A7D4-46B9-A4A4-CE69C0F9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84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Create one item per company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BB5A3-A1F0-4950-B318-07E84F6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Postgres Upsert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8175D-0174-412A-A917-144E1565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53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Insert or update by domain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CD1318-70EE-4949-A67E-41DBF709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3335">
            <a:solidFill>
              <a:srgbClr val="7659A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Code: Normalize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F070B-5979-4769-9A4A-723A7F51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853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Map fields and source URL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BDA489-BFCC-46FF-B609-BC52E0E8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338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HTML Extract /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D028D-6BE9-4A8E-81D1-BA23B1F0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53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Company name, description, contacts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43947-8702-49A8-9274-DE3C0920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HTTP Request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71915-D25E-4EB1-A129-A244D931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853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Open public company 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5002B-A4DA-4EF0-A407-165B833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33800"/>
            <a:ext cx="1885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8793A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Loop Over 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56DB88-5C6B-4731-BF20-484CD71D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85310"/>
            <a:ext cx="173355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Process each candidate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8154C3-3DC0-4D2C-939B-1839E6C4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790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344D"/>
          </a:solidFill>
          <a:ln xmlns:a="http://schemas.openxmlformats.org/drawingml/2006/main" w="13335">
            <a:solidFill>
              <a:srgbClr val="18344D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FIELDS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F8311-07F9-41E6-9BED-476E435F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62575"/>
            <a:ext cx="9105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company  |  website  |  country  |  source_url  |  description  |  captured_at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5C4C3E-34B9-4291-AC48-0DF02AD6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The source URL is retained so every company can be reviewed and traced.</a:t>
            </a:r>
          </a:p>
        </p:txBody>
      </p:sp>
    </p:spTree>
    <p:extLst>
      <p:ext uri="{BB962C8B-B14F-4D97-AF65-F5344CB8AC3E}">
        <p14:creationId xmlns:p14="http://schemas.microsoft.com/office/powerpoint/2010/main" val="1442077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48C5AB-87E8-43F2-92FC-3239DFF8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n8n WORKFLOW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639AE-6879-4D91-A72C-D2791EDB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60134-D02B-4F7C-9839-12FD2CD7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61C43-E5D4-4EBB-BECA-55CCDA9B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19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Filtering: raw companies become verified, contact-ready sales leads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73072-60F9-476C-8BA4-A30F1E02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28AD3-7250-4CF2-81E8-9FB3AEA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Illustrative UAE apparel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9A62D-F20D-4E2A-938C-3AA48B9E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Raw company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5AECD-75FA-401B-9923-BCF7339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D2D6D-6A93-4C2D-B155-A3D2B74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2405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DC241-6C0D-4B2A-A3F8-45F070C4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764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F9B64-9152-4839-86B1-37021CB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Unique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3F2A7-03FE-4A90-B0AF-5B1E098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2894A-972D-4D92-9439-C3F53F0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494538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C82"/>
          </a:solidFill>
          <a:ln xmlns:a="http://schemas.openxmlformats.org/drawingml/2006/main" w="0">
            <a:solidFill>
              <a:srgbClr val="245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5545-EB60-43A6-A98B-04E7557C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907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45C8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C82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9B357-FC82-4558-B459-7D6CDFBA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B2B companies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E81A5-D376-4EF2-8EFA-4447DB2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0FF25-D524-4BFE-9221-24811C6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39338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789E"/>
          </a:solidFill>
          <a:ln xmlns:a="http://schemas.openxmlformats.org/drawingml/2006/main" w="0">
            <a:solidFill>
              <a:srgbClr val="3E78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9A2BC-4DCC-474C-85B8-339EE867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51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E789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E789E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87FE1-2E89-4417-9222-25E0A805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Importer / wholesaler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21D4E-2402-4D85-B003-BCC3840C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226BF-F5D1-488B-8545-24187F2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3315653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9A9"/>
          </a:solidFill>
          <a:ln xmlns:a="http://schemas.openxmlformats.org/drawingml/2006/main" w="0">
            <a:solidFill>
              <a:srgbClr val="5489A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87C24-F759-43B9-BC70-83812FF3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194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489A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489A9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19AB3-8B3E-4D14-B4A4-31FC6EC2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Chain-store supply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7064C-BB38-4EC1-AF77-125371C8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1E327-3219-4875-B104-67A0C24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81450"/>
            <a:ext cx="2809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8A13"/>
          </a:solidFill>
          <a:ln xmlns:a="http://schemas.openxmlformats.org/drawingml/2006/main" w="0">
            <a:solidFill>
              <a:srgbClr val="D18A1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817E6-7222-475E-A480-52A563DB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338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18A1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8A13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10AA7-BD6E-432A-92C6-5CF4F118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Verified decision-makers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526BC0-9CF0-4D7F-B4AA-1C63043F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82E0E-18EF-4CF5-8BF6-0277D18A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157353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9A7"/>
          </a:solidFill>
          <a:ln xmlns:a="http://schemas.openxmlformats.org/drawingml/2006/main" w="0">
            <a:solidFill>
              <a:srgbClr val="7659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1EB633-5DD4-4DDB-94A1-9ECD9D9F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48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659A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659A7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A4C113-DFF2-41DD-A11F-3EAE9FC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Tier A contact-ready leads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99D0F-75C4-490D-9466-AC13F59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5619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9B16E-B701-4D8C-BB8D-2982AD6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67437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FDFB8-8E59-4002-ADCC-D40EDEE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625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565FAF-399F-43C1-84B5-E3F7F35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IF / SWITCH</a:t>
            </a:r>
          </a:p>
          <a:p xmlns:a="http://schemas.openxmlformats.org/drawingml/2006/main">
            <a:pPr algn="ctr">
              <a:defRPr sz="172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95AD3-EE13-48E7-87F3-916C24DD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43300"/>
            <a:ext cx="1352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Reject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Enrich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Score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Send to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E40543-98D9-4685-A192-C25BBBEE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953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AI extracts evidence  •  n8n IF/Switch nodes route each item  •  verification services validate business contacts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525A12-3C03-4E3F-B7CD-B9A80585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793A0"/>
                </a:solidFill>
                <a:latin typeface="Aptos"/>
                <a:ea typeface="Aptos"/>
                <a:cs typeface="Aptos"/>
              </a:rPr>
              <a:t>Illustrative demonstration data—not actual campaign results</a:t>
            </a:r>
          </a:p>
        </p:txBody>
      </p:sp>
    </p:spTree>
    <p:extLst>
      <p:ext uri="{BB962C8B-B14F-4D97-AF65-F5344CB8AC3E}">
        <p14:creationId xmlns:p14="http://schemas.microsoft.com/office/powerpoint/2010/main" val="156541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DA901-D174-4C51-9FE1-2BBBEFF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n8n WORKFLOW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60AE0-DE8F-41B8-9396-7725AC35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8984C-D661-43EE-A317-D2503BB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B2990-9C34-4778-BAAF-F2172776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Contact workflow: approve, send and update CRM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A1870-37F4-440D-8632-D32B2AD5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030A8-5566-4F89-B26C-F7F99247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F7CB-22C6-422A-86E4-55E8CBD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1E602-5955-4D29-BBBC-36C6595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E47E5-788E-466D-A56B-ED5BFAC3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57550"/>
            <a:ext cx="2667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A0E60-D320-40D6-9C6B-4ED8991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5715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40F3E-24A7-4022-81A9-17910EB9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48150"/>
            <a:ext cx="5715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B6ED2-ED16-4816-8D1A-FE4DB7B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5715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75CB-8AF0-4DC9-8D60-641B3FC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Postgres 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5FC66-1467-45FA-97CE-359E7DEA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00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Tier A lead + verified contact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89C83-79C2-42D4-9830-B84E09A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77A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377A3"/>
                </a:solidFill>
                <a:latin typeface="Aptos"/>
                <a:ea typeface="Aptos"/>
                <a:cs typeface="Aptos"/>
              </a:rPr>
              <a:t>Product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DAF4F-E77F-4ACA-AA7F-C86CE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00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Select relevant DPV categories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EA35A-6F12-46D4-A682-CD5775B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3335">
            <a:solidFill>
              <a:srgbClr val="7659A7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659A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659A7"/>
                </a:solidFill>
                <a:latin typeface="Aptos"/>
                <a:ea typeface="Aptos"/>
                <a:cs typeface="Aptos"/>
              </a:rPr>
              <a:t>LLM 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07A66-F6B3-42CC-AE5A-29D98756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00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Personalized email / LinkedIn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8B692-BAF3-421F-ACF5-D86B3218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Human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A6F20-CFD7-4C78-8E59-A0E084C0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00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Approve, edit or reject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A1EA7-8F78-4D85-BA87-1C489136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Switch + CRM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5517E-8E51-488C-97AC-9A0EC787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69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Intent, owner, next action, stop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EAF4E-CF04-41F8-B815-31BE327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28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8793A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793A0"/>
                </a:solidFill>
                <a:latin typeface="Aptos"/>
                <a:ea typeface="Aptos"/>
                <a:cs typeface="Aptos"/>
              </a:rPr>
              <a:t>Wait + Reply Webhook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39947-D8D3-4165-A610-8793BC6C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369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Monitor reply, bounce and opt-out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F14988-6510-411E-B36C-A858BE2D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3377A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377A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377A3"/>
                </a:solidFill>
                <a:latin typeface="Aptos"/>
                <a:ea typeface="Aptos"/>
                <a:cs typeface="Aptos"/>
              </a:rPr>
              <a:t>Email / Sales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B314C-64E6-4550-BB73-1BB0B589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69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Send email or create LinkedIn task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ABB12-7EC5-4421-A99E-1B86FCB3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2190750" cy="660083"/>
          </a:xfrm>
          <a:prstGeom xmlns:a="http://schemas.openxmlformats.org/drawingml/2006/main" prst="roundRect">
            <a:avLst>
              <a:gd name="adj" fmla="val 17316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IF Approved?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D2188-83AC-4B87-BAD3-E62E8950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36936"/>
            <a:ext cx="2038350" cy="456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No = stop  •  Yes = continue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56DA1-5C7A-4A7E-BE84-D673BEE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1466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D976E-9C3B-4F06-AF9E-82FE851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62575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Reply • Opt-out • Hard bounce • Rejected approval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95D42-8B3D-45A6-8F60-7B823B0E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209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SALES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D0B550-9E8D-4629-AF7D-F9D2120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625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Catalogue • Sample • Quotation • Meeting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AF07C8-D276-496B-82A9-B44615F3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057900"/>
            <a:ext cx="9505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Every action keeps the lead ID, source URL, message version and n8n execution log.</a:t>
            </a:r>
          </a:p>
        </p:txBody>
      </p:sp>
    </p:spTree>
    <p:extLst>
      <p:ext uri="{BB962C8B-B14F-4D97-AF65-F5344CB8AC3E}">
        <p14:creationId xmlns:p14="http://schemas.microsoft.com/office/powerpoint/2010/main" val="2142456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2026-08-19T11:50:56.7480000Z</dcterms:created>
  <dcterms:modified xsi:type="dcterms:W3CDTF">2026-08-19T11:50:56.7480000Z</dcterms:modified>
</coreProperties>
</file>